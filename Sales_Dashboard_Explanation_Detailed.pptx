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AB34A-3771-4A39-B5C4-EEE24FB4BE57}" v="3" dt="2025-11-18T18:35:31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mani" userId="667e4a5ee70155b0" providerId="LiveId" clId="{9328D910-AB8B-4833-A5BB-861437B0CDED}"/>
    <pc:docChg chg="custSel modSld">
      <pc:chgData name="manoj mani" userId="667e4a5ee70155b0" providerId="LiveId" clId="{9328D910-AB8B-4833-A5BB-861437B0CDED}" dt="2025-11-18T18:36:08.157" v="7" actId="1076"/>
      <pc:docMkLst>
        <pc:docMk/>
      </pc:docMkLst>
      <pc:sldChg chg="modSp">
        <pc:chgData name="manoj mani" userId="667e4a5ee70155b0" providerId="LiveId" clId="{9328D910-AB8B-4833-A5BB-861437B0CDED}" dt="2025-11-18T18:35:31.647" v="4"/>
        <pc:sldMkLst>
          <pc:docMk/>
          <pc:sldMk cId="0" sldId="256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anoj mani" userId="667e4a5ee70155b0" providerId="LiveId" clId="{9328D910-AB8B-4833-A5BB-861437B0CDED}" dt="2025-11-18T18:36:08.157" v="7" actId="1076"/>
        <pc:sldMkLst>
          <pc:docMk/>
          <pc:sldMk cId="0" sldId="257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57"/>
            <ac:spMk id="2" creationId="{00000000-0000-0000-0000-000000000000}"/>
          </ac:spMkLst>
        </pc:spChg>
        <pc:picChg chg="mod">
          <ac:chgData name="manoj mani" userId="667e4a5ee70155b0" providerId="LiveId" clId="{9328D910-AB8B-4833-A5BB-861437B0CDED}" dt="2025-11-18T18:36:08.157" v="7" actId="1076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manoj mani" userId="667e4a5ee70155b0" providerId="LiveId" clId="{9328D910-AB8B-4833-A5BB-861437B0CDED}" dt="2025-11-18T18:35:31.891" v="5" actId="27636"/>
        <pc:sldMkLst>
          <pc:docMk/>
          <pc:sldMk cId="0" sldId="258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891" v="5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manoj mani" userId="667e4a5ee70155b0" providerId="LiveId" clId="{9328D910-AB8B-4833-A5BB-861437B0CDED}" dt="2025-11-18T18:35:31.647" v="4"/>
        <pc:sldMkLst>
          <pc:docMk/>
          <pc:sldMk cId="0" sldId="259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anoj mani" userId="667e4a5ee70155b0" providerId="LiveId" clId="{9328D910-AB8B-4833-A5BB-861437B0CDED}" dt="2025-11-18T18:35:31.913" v="6" actId="27636"/>
        <pc:sldMkLst>
          <pc:docMk/>
          <pc:sldMk cId="0" sldId="260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913" v="6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manoj mani" userId="667e4a5ee70155b0" providerId="LiveId" clId="{9328D910-AB8B-4833-A5BB-861437B0CDED}" dt="2025-11-18T18:35:31.647" v="4"/>
        <pc:sldMkLst>
          <pc:docMk/>
          <pc:sldMk cId="0" sldId="261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manoj mani" userId="667e4a5ee70155b0" providerId="LiveId" clId="{9328D910-AB8B-4833-A5BB-861437B0CDED}" dt="2025-11-18T18:35:31.647" v="4"/>
        <pc:sldMkLst>
          <pc:docMk/>
          <pc:sldMk cId="0" sldId="262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manoj mani" userId="667e4a5ee70155b0" providerId="LiveId" clId="{9328D910-AB8B-4833-A5BB-861437B0CDED}" dt="2025-11-18T18:35:31.647" v="4"/>
        <pc:sldMkLst>
          <pc:docMk/>
          <pc:sldMk cId="0" sldId="263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manoj mani" userId="667e4a5ee70155b0" providerId="LiveId" clId="{9328D910-AB8B-4833-A5BB-861437B0CDED}" dt="2025-11-18T18:35:31.647" v="4"/>
        <pc:sldMkLst>
          <pc:docMk/>
          <pc:sldMk cId="0" sldId="264"/>
        </pc:sldMkLst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noj mani" userId="667e4a5ee70155b0" providerId="LiveId" clId="{9328D910-AB8B-4833-A5BB-861437B0CDED}" dt="2025-11-18T18:35:31.647" v="4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1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8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7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6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1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40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4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9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3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4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4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76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2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26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37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33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1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2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Dashboard – Detailed Explanation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complete breakdown of KPIs, filters, charts, and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Snapshot</a:t>
            </a:r>
          </a:p>
        </p:txBody>
      </p:sp>
      <p:pic>
        <p:nvPicPr>
          <p:cNvPr id="3" name="Picture 2" descr="50975b6a-0d8e-4b1b-97d2-375e78e34a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65" y="2286000"/>
            <a:ext cx="79934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 Panel – Detailed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Region Filter:</a:t>
            </a:r>
          </a:p>
          <a:p>
            <a:pPr lvl="1"/>
            <a:r>
              <a:t>Choose East, West, North, or South regions for localized performance insights.</a:t>
            </a:r>
          </a:p>
          <a:p>
            <a:pPr lvl="1"/>
            <a:r>
              <a:t>Category Filter:</a:t>
            </a:r>
          </a:p>
          <a:p>
            <a:pPr lvl="1"/>
            <a:r>
              <a:t>Filter by product groupings for product-specific dashboards.</a:t>
            </a:r>
          </a:p>
          <a:p>
            <a:pPr lvl="1"/>
            <a:r>
              <a:t>Order Date Filter:</a:t>
            </a:r>
          </a:p>
          <a:p>
            <a:pPr lvl="1"/>
            <a:r>
              <a:t>Allows dynamic analysis over time ranges to compare trends.</a:t>
            </a:r>
          </a:p>
          <a:p>
            <a:pPr lvl="1"/>
            <a:r>
              <a:t>KPI Toggle Buttons:</a:t>
            </a:r>
          </a:p>
          <a:p>
            <a:pPr lvl="1"/>
            <a:r>
              <a:t>Helps visually switch between Total Orders, Total Profit, and Total Sales KPIs.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 (150):</a:t>
            </a:r>
          </a:p>
          <a:p>
            <a:pPr lvl="1"/>
            <a:r>
              <a:t>Indicates the total number of customer orders processed.</a:t>
            </a:r>
          </a:p>
          <a:p>
            <a:pPr lvl="1"/>
            <a:r>
              <a:t>Total Profit (121.85K):</a:t>
            </a:r>
          </a:p>
          <a:p>
            <a:pPr lvl="1"/>
            <a:r>
              <a:t>Represents gross profit earned from all sales within selected filters.</a:t>
            </a:r>
          </a:p>
          <a:p>
            <a:pPr lvl="1"/>
            <a:r>
              <a:t>Total Sales (772.821K):</a:t>
            </a:r>
          </a:p>
          <a:p>
            <a:pPr lvl="1"/>
            <a:r>
              <a:t>Shows revenue generated across all products and regions.</a:t>
            </a:r>
          </a:p>
          <a:p>
            <a:pPr lvl="1"/>
            <a:r>
              <a:t>KPIs help assess overall business health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Region-Wise Sales Summary – Detailed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East Region:</a:t>
            </a:r>
          </a:p>
          <a:p>
            <a:pPr lvl="1"/>
            <a:r>
              <a:t>Strong performance with high total sales and significant profit contribution.</a:t>
            </a:r>
          </a:p>
          <a:p>
            <a:pPr lvl="1"/>
            <a:r>
              <a:t>North Region:</a:t>
            </a:r>
          </a:p>
          <a:p>
            <a:pPr lvl="1"/>
            <a:r>
              <a:t>Consistent sales with stable profit margin.</a:t>
            </a:r>
          </a:p>
          <a:p>
            <a:pPr lvl="1"/>
            <a:r>
              <a:t>South Region:</a:t>
            </a:r>
          </a:p>
          <a:p>
            <a:pPr lvl="1"/>
            <a:r>
              <a:t>Shows highest numbers in profit and sales among all regions.</a:t>
            </a:r>
          </a:p>
          <a:p>
            <a:pPr lvl="1"/>
            <a:r>
              <a:t>West Region:</a:t>
            </a:r>
          </a:p>
          <a:p>
            <a:pPr lvl="1"/>
            <a:r>
              <a:t>Balanced performance with strong sales and average profit values.</a:t>
            </a:r>
          </a:p>
          <a:p>
            <a:pPr lvl="1"/>
            <a:r>
              <a:t>Summary Table helps compare regional strengths and weaknesses.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Orders by Product – What It Reveals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Products:</a:t>
            </a:r>
          </a:p>
          <a:p>
            <a:pPr lvl="1"/>
            <a:r>
              <a:t>Chair, Laptop, Sofa show the highest share of customer orders.</a:t>
            </a:r>
          </a:p>
          <a:p>
            <a:pPr lvl="1"/>
            <a:r>
              <a:t>Moderate Performing Products:</a:t>
            </a:r>
          </a:p>
          <a:p>
            <a:pPr lvl="1"/>
            <a:r>
              <a:t>Shoes, Phones indicate medium order frequency.</a:t>
            </a:r>
          </a:p>
          <a:p>
            <a:pPr lvl="1"/>
            <a:r>
              <a:t>Lower Range Products:</a:t>
            </a:r>
          </a:p>
          <a:p>
            <a:pPr lvl="1"/>
            <a:r>
              <a:t>Milk and T-shirt categories show lower demand.</a:t>
            </a:r>
          </a:p>
          <a:p>
            <a:pPr lvl="1"/>
            <a:r>
              <a:t>Pie chart helps identify demand patterns for inventory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Profit and Total Orders by Product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with high sales + high profit (e.g., Sofa, Milk):</a:t>
            </a:r>
          </a:p>
          <a:p>
            <a:pPr lvl="1"/>
            <a:r>
              <a:t>Indicate strong profitability &amp; customer demand.</a:t>
            </a:r>
          </a:p>
          <a:p>
            <a:pPr lvl="1"/>
            <a:r>
              <a:t>Products with high orders but lower profit (e.g., Chair):</a:t>
            </a:r>
          </a:p>
          <a:p>
            <a:pPr lvl="1"/>
            <a:r>
              <a:t>Useful for evaluating margin improvement areas.</a:t>
            </a:r>
          </a:p>
          <a:p>
            <a:pPr lvl="1"/>
            <a:r>
              <a:t>Products with low orders and low profit:</a:t>
            </a:r>
          </a:p>
          <a:p>
            <a:pPr lvl="1"/>
            <a:r>
              <a:t>Signal low-performing categories needing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Count &amp; Total Orders – Trend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Count:</a:t>
            </a:r>
          </a:p>
          <a:p>
            <a:pPr lvl="1"/>
            <a:r>
              <a:t>Shows availability or variety within each product category.</a:t>
            </a:r>
          </a:p>
          <a:p>
            <a:pPr lvl="1"/>
            <a:r>
              <a:t>Order Trend Line:</a:t>
            </a:r>
          </a:p>
          <a:p>
            <a:pPr lvl="1"/>
            <a:r>
              <a:t>Reveals how customer preference aligns with available categories.</a:t>
            </a:r>
          </a:p>
          <a:p>
            <a:pPr lvl="1"/>
            <a:r>
              <a:t>Useful for product assortment optimization.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Top-performing regions should receive increased stocking and marketing investment.</a:t>
            </a:r>
          </a:p>
          <a:p>
            <a:pPr lvl="1"/>
            <a:r>
              <a:t>Low-performing products may require redesign, bundling, or promotional offers.</a:t>
            </a:r>
          </a:p>
          <a:p>
            <a:pPr lvl="1"/>
            <a:r>
              <a:t>High-profit items should be prioritized in campaigns.</a:t>
            </a:r>
          </a:p>
          <a:p>
            <a:pPr lvl="1"/>
            <a:r>
              <a:t>Date filters reveal seasonal trends—useful for forecasting demand.</a:t>
            </a:r>
          </a:p>
          <a:p>
            <a:pPr lvl="1"/>
            <a:r>
              <a:t>Overall dashboard helps guide strategic sales and operational decisions.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431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Sales Performance Dashboard – Detailed Explanation</vt:lpstr>
      <vt:lpstr>Dashboard Snapshot</vt:lpstr>
      <vt:lpstr>Filter Panel – Detailed Breakdown</vt:lpstr>
      <vt:lpstr>Key Performance Indicators (KPIs)</vt:lpstr>
      <vt:lpstr>Region-Wise Sales Summary – Detailed Insight</vt:lpstr>
      <vt:lpstr>Total Orders by Product – What It Reveals</vt:lpstr>
      <vt:lpstr>Total Profit and Total Orders by Product – Analysis</vt:lpstr>
      <vt:lpstr>Category Count &amp; Total Orders – Trend Explanation</vt:lpstr>
      <vt:lpstr>Key Insights &amp; 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Manoj</dc:creator>
  <cp:keywords/>
  <dc:description>generated using python-pptx</dc:description>
  <cp:lastModifiedBy>manoj mani</cp:lastModifiedBy>
  <cp:revision>1</cp:revision>
  <dcterms:created xsi:type="dcterms:W3CDTF">2013-01-27T09:14:16Z</dcterms:created>
  <dcterms:modified xsi:type="dcterms:W3CDTF">2025-11-18T18:36:17Z</dcterms:modified>
  <cp:category/>
</cp:coreProperties>
</file>